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08" r:id="rId2"/>
    <p:sldId id="314" r:id="rId3"/>
    <p:sldId id="315" r:id="rId4"/>
    <p:sldId id="313" r:id="rId5"/>
    <p:sldId id="316" r:id="rId6"/>
    <p:sldId id="311" r:id="rId7"/>
    <p:sldId id="317" r:id="rId8"/>
    <p:sldId id="318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2C4"/>
    <a:srgbClr val="034A92"/>
    <a:srgbClr val="0E419C"/>
    <a:srgbClr val="4472C4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5721" autoAdjust="0"/>
  </p:normalViewPr>
  <p:slideViewPr>
    <p:cSldViewPr>
      <p:cViewPr varScale="1">
        <p:scale>
          <a:sx n="88" d="100"/>
          <a:sy n="88" d="100"/>
        </p:scale>
        <p:origin x="-2751" y="14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4" d="100"/>
        <a:sy n="13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F5FCC-2B4E-4E63-AE43-A06AC1BB4691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7C2C5-6CB9-4494-AA33-6FA6503D8A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325901E-03BB-9AA9-8D62-12997F194F1E}"/>
              </a:ext>
            </a:extLst>
          </p:cNvPr>
          <p:cNvSpPr txBox="1"/>
          <p:nvPr userDrawn="1"/>
        </p:nvSpPr>
        <p:spPr>
          <a:xfrm>
            <a:off x="0" y="6732766"/>
            <a:ext cx="407368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" dirty="0">
                <a:solidFill>
                  <a:schemeClr val="bg1"/>
                </a:solidFill>
              </a:rPr>
              <a:t>木卫林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3502D5C-AA8C-4595-A33F-B9794B6268AF}" type="datetimeFigureOut">
              <a:rPr lang="zh-CN" altLang="en-US" smtClean="0"/>
              <a:t>2025/12/19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ABFDCD-7E08-4B74-9118-24CFF7CC037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8B7F3-0E29-7F0C-6DF4-CE51390DF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89AE30-4FD3-5244-C48D-9642819A4F7D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2459AABB-2359-7A66-CD1D-D33A8C164B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32C0545F-123A-3F8E-F154-6E1E761A07BE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046EBD8A-8CD3-B2C7-C528-F26C5A5E40CA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00AAAD64-984F-2E92-0682-55F6FEA807CA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A0D0D2A-12E9-BBB5-4D21-E742860BA3E9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E92BE2-C6BE-F7D3-CB4B-159D9DFC1FAB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C308A5-5A5D-86AF-F00F-1064AB53F2F3}"/>
              </a:ext>
            </a:extLst>
          </p:cNvPr>
          <p:cNvSpPr txBox="1"/>
          <p:nvPr/>
        </p:nvSpPr>
        <p:spPr>
          <a:xfrm>
            <a:off x="367403" y="2132856"/>
            <a:ext cx="2970715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PART1</a:t>
            </a:r>
          </a:p>
          <a:p>
            <a:r>
              <a:rPr lang="en-US" altLang="zh-CN" dirty="0"/>
              <a:t>Load ImageNet dataset and use Generative AI to create dataset with different styles.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DE3F2E-71DE-FBE1-E34E-6103506D6933}"/>
              </a:ext>
            </a:extLst>
          </p:cNvPr>
          <p:cNvSpPr txBox="1"/>
          <p:nvPr/>
        </p:nvSpPr>
        <p:spPr>
          <a:xfrm>
            <a:off x="3319731" y="2132856"/>
            <a:ext cx="2970715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PART2</a:t>
            </a:r>
          </a:p>
          <a:p>
            <a:pPr>
              <a:spcAft>
                <a:spcPts val="600"/>
              </a:spcAft>
            </a:pPr>
            <a:r>
              <a:rPr lang="en-US" altLang="zh-CN" dirty="0"/>
              <a:t>Develop the models based on our task goal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7D7345-C206-7AD7-D39D-FA5C72E82254}"/>
              </a:ext>
            </a:extLst>
          </p:cNvPr>
          <p:cNvSpPr txBox="1"/>
          <p:nvPr/>
        </p:nvSpPr>
        <p:spPr>
          <a:xfrm>
            <a:off x="6240016" y="2132856"/>
            <a:ext cx="2970715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PART3</a:t>
            </a:r>
          </a:p>
          <a:p>
            <a:pPr>
              <a:spcAft>
                <a:spcPts val="600"/>
              </a:spcAft>
            </a:pPr>
            <a:r>
              <a:rPr lang="en-US" altLang="zh-CN" dirty="0"/>
              <a:t>Train the models on dataset 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E42862-E5D5-3825-934C-658FAAE16AC1}"/>
              </a:ext>
            </a:extLst>
          </p:cNvPr>
          <p:cNvSpPr txBox="1"/>
          <p:nvPr/>
        </p:nvSpPr>
        <p:spPr>
          <a:xfrm>
            <a:off x="9186776" y="2132856"/>
            <a:ext cx="2970715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PART4</a:t>
            </a:r>
          </a:p>
          <a:p>
            <a:pPr>
              <a:spcAft>
                <a:spcPts val="600"/>
              </a:spcAft>
            </a:pPr>
            <a:r>
              <a:rPr lang="en-US" altLang="zh-CN" dirty="0" err="1"/>
              <a:t>Evalute</a:t>
            </a:r>
            <a:r>
              <a:rPr lang="en-US" altLang="zh-CN" dirty="0"/>
              <a:t> the models based on their performance on dataset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43D347-56E9-FAA3-C57E-B1F8A0F3005D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7E30A1A-F5AD-B3AA-6D45-A2A58BCA2D5F}"/>
              </a:ext>
            </a:extLst>
          </p:cNvPr>
          <p:cNvSpPr txBox="1"/>
          <p:nvPr/>
        </p:nvSpPr>
        <p:spPr>
          <a:xfrm>
            <a:off x="11496600" y="63183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5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814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55A2-481A-5FD3-6371-D6653937F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8D531A4-629C-ADF5-3721-D60C8BA0BE72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53A1D240-EC07-698C-0DB9-8DE53A6806A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623AA19B-0511-B8AD-3B85-D00CCA1AAF82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746F8AA-4D8F-EE81-1BB9-F4884C0D6415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23694A9-3AD3-888C-2BC0-4AAFF3A42D57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E5089543-766B-22C2-51EA-58F327605F93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80541A-F0CA-B55F-58C8-B7D4EDC5B1AD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AA74E8-F4B6-184A-9874-2036B358981B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PART1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8478B54-6854-42AB-F33C-4243A22C3235}"/>
              </a:ext>
            </a:extLst>
          </p:cNvPr>
          <p:cNvSpPr txBox="1"/>
          <p:nvPr/>
        </p:nvSpPr>
        <p:spPr>
          <a:xfrm>
            <a:off x="426716" y="2048730"/>
            <a:ext cx="3725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1.Download the ImageNet testing dataset and sampling 7 classes.   </a:t>
            </a:r>
            <a:endParaRPr lang="zh-CN" altLang="en-US" dirty="0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778EE1C7-A297-C139-7C00-7344F74A4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896" y="1973635"/>
            <a:ext cx="2114329" cy="27024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B505FA-5C25-9BB5-27FC-4326F93038E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44" y="2333226"/>
            <a:ext cx="3966634" cy="150165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036FDE3-E413-A2BD-C00C-34BA8DF2BD86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0A770FB-8169-C4D3-31D5-C628AE154DDF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6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2220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ABA3F-48F3-15E1-5522-9066D41F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7865CFD-B5BB-1A56-DDEA-0EEFE37CB706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8B224909-E37B-57C5-04B2-1859DFB46C6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60070DF2-C7D6-9B2E-EBC5-EF0C85A3D52F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9D087940-29FD-EE30-7A4D-C73BA6DE590E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E216D696-F972-32D6-092E-A11DC29BA87F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6BA2B3B4-F4A1-0958-2D60-A9FC5E69CBA3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B166DC-317E-E09E-7DF3-98798EDC2880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A8AECB-8533-D0B9-E037-647F8D94DB96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PART1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23868A-9BB9-1700-74F3-5D03B503B9B6}"/>
              </a:ext>
            </a:extLst>
          </p:cNvPr>
          <p:cNvSpPr txBox="1"/>
          <p:nvPr/>
        </p:nvSpPr>
        <p:spPr>
          <a:xfrm>
            <a:off x="426716" y="2048730"/>
            <a:ext cx="3725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2.Use stable diffusion and input the images(in seven classes) and prompt text(shown on the right) to get images of different styles. </a:t>
            </a:r>
            <a:endParaRPr lang="zh-CN" altLang="en-US" dirty="0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86EB4AB1-5041-5F47-D869-2D1F221DA285}"/>
              </a:ext>
            </a:extLst>
          </p:cNvPr>
          <p:cNvSpPr/>
          <p:nvPr/>
        </p:nvSpPr>
        <p:spPr>
          <a:xfrm>
            <a:off x="7526003" y="4393166"/>
            <a:ext cx="576064" cy="6841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文本&#10;&#10;AI 生成的内容可能不正确。">
            <a:extLst>
              <a:ext uri="{FF2B5EF4-FFF2-40B4-BE49-F238E27FC236}">
                <a16:creationId xmlns:a16="http://schemas.microsoft.com/office/drawing/2014/main" id="{D352D221-79B6-2E79-C40B-F70231F50B4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69256"/>
          <a:stretch>
            <a:fillRect/>
          </a:stretch>
        </p:blipFill>
        <p:spPr>
          <a:xfrm>
            <a:off x="2532847" y="3688970"/>
            <a:ext cx="4995902" cy="61932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533021F-622F-154C-FA1E-57FD25171934}"/>
              </a:ext>
            </a:extLst>
          </p:cNvPr>
          <p:cNvSpPr txBox="1"/>
          <p:nvPr/>
        </p:nvSpPr>
        <p:spPr>
          <a:xfrm>
            <a:off x="532997" y="3645024"/>
            <a:ext cx="1818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Input1:text: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1512A35-E79E-6E8E-B906-63E85C2DFAD1}"/>
              </a:ext>
            </a:extLst>
          </p:cNvPr>
          <p:cNvSpPr txBox="1"/>
          <p:nvPr/>
        </p:nvSpPr>
        <p:spPr>
          <a:xfrm>
            <a:off x="532996" y="4935974"/>
            <a:ext cx="2250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Input2:image(car):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7C43259-708D-7E3E-C8D4-66EBE468F8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628" y="3645024"/>
            <a:ext cx="2808312" cy="280831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A035305C-A07F-7DBC-3AA3-3B795980AB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118" y="4420417"/>
            <a:ext cx="3034801" cy="2276101"/>
          </a:xfrm>
          <a:prstGeom prst="rect">
            <a:avLst/>
          </a:prstGeom>
        </p:spPr>
      </p:pic>
      <p:pic>
        <p:nvPicPr>
          <p:cNvPr id="24" name="图片 23" descr="文本&#10;&#10;AI 生成的内容可能不正确。">
            <a:extLst>
              <a:ext uri="{FF2B5EF4-FFF2-40B4-BE49-F238E27FC236}">
                <a16:creationId xmlns:a16="http://schemas.microsoft.com/office/drawing/2014/main" id="{3E26905D-F209-ED89-3220-F6E9EFA3F37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1903" y="1211930"/>
            <a:ext cx="5195507" cy="2145062"/>
          </a:xfrm>
          <a:prstGeom prst="rect">
            <a:avLst/>
          </a:prstGeom>
        </p:spPr>
      </p:pic>
      <p:pic>
        <p:nvPicPr>
          <p:cNvPr id="22" name="图片 21" descr="表格&#10;&#10;AI 生成的内容可能不正确。">
            <a:extLst>
              <a:ext uri="{FF2B5EF4-FFF2-40B4-BE49-F238E27FC236}">
                <a16:creationId xmlns:a16="http://schemas.microsoft.com/office/drawing/2014/main" id="{480C8B32-3FAD-03A6-3161-DD8A3F59037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2562" y="1202654"/>
            <a:ext cx="2095947" cy="236294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3FD82CC-026A-9486-1110-0D6A8E212A24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C0DB049-F31E-1A66-2F36-26223665FEE1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7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613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CF75-9264-6175-F99F-25FD929D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184AACF-9907-883D-F293-B301505C099C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4745E5C6-FBBC-82D9-F15C-7AB7EA30687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CAB9B2F4-CAAD-BE1E-116F-34F76A1CFDEC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E660A47-27DA-0A28-389D-4EED15E5671C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A211052-6FDE-4B73-0148-99E5D0D459C4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BB51AFDF-0A19-D2B9-CFB3-0119F629F0FA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29E9F5F-CB51-B0F6-741F-C4DEA59794FB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720333-2BAC-456D-6875-C7D8CA31E108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PART1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0BBE03D-47F0-7212-7C4A-C85D40534A7B}"/>
              </a:ext>
            </a:extLst>
          </p:cNvPr>
          <p:cNvSpPr txBox="1"/>
          <p:nvPr/>
        </p:nvSpPr>
        <p:spPr>
          <a:xfrm>
            <a:off x="426715" y="2048730"/>
            <a:ext cx="1132753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3.Create labels for image pairs(800×4=3200pairs)</a:t>
            </a:r>
          </a:p>
          <a:p>
            <a:endParaRPr lang="en-US" altLang="zh-CN" dirty="0"/>
          </a:p>
          <a:p>
            <a:r>
              <a:rPr lang="en-US" altLang="zh-CN" sz="1600" dirty="0"/>
              <a:t>-identical: 0.90	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err="1"/>
              <a:t>ex.two</a:t>
            </a:r>
            <a:r>
              <a:rPr lang="en-US" altLang="zh-CN" sz="1600" dirty="0"/>
              <a:t> image of cars painted in style of Van </a:t>
            </a:r>
            <a:r>
              <a:rPr lang="en-US" altLang="zh-CN" sz="1600" dirty="0" err="1"/>
              <a:t>Goph</a:t>
            </a:r>
            <a:endParaRPr lang="en-US" altLang="zh-CN" sz="1600" dirty="0"/>
          </a:p>
          <a:p>
            <a:r>
              <a:rPr lang="en-US" altLang="zh-CN" sz="1600" dirty="0"/>
              <a:t>-</a:t>
            </a:r>
            <a:r>
              <a:rPr lang="en-US" altLang="zh-CN" sz="1600" dirty="0" err="1"/>
              <a:t>same_style_diff_content</a:t>
            </a:r>
            <a:r>
              <a:rPr lang="en-US" altLang="zh-CN" sz="1600" dirty="0"/>
              <a:t>: 0.85</a:t>
            </a:r>
          </a:p>
          <a:p>
            <a:r>
              <a:rPr lang="en-US" altLang="zh-CN" sz="1600" dirty="0"/>
              <a:t>    ex.one image of bird and another image of car, both painted in style of Van </a:t>
            </a:r>
            <a:r>
              <a:rPr lang="en-US" altLang="zh-CN" sz="1600" dirty="0" err="1"/>
              <a:t>Goph</a:t>
            </a:r>
            <a:endParaRPr lang="en-US" altLang="zh-CN" sz="1600" dirty="0"/>
          </a:p>
          <a:p>
            <a:r>
              <a:rPr lang="en-US" altLang="zh-CN" sz="1600" dirty="0"/>
              <a:t>-</a:t>
            </a:r>
            <a:r>
              <a:rPr lang="en-US" altLang="zh-CN" sz="1600" dirty="0" err="1"/>
              <a:t>same_content_diff_style</a:t>
            </a:r>
            <a:r>
              <a:rPr lang="en-US" altLang="zh-CN" sz="1600" dirty="0"/>
              <a:t>: 0.35</a:t>
            </a:r>
          </a:p>
          <a:p>
            <a:r>
              <a:rPr lang="en-US" altLang="zh-CN" sz="1600" dirty="0"/>
              <a:t>    ex. one image of bird, painted in style of Van </a:t>
            </a:r>
            <a:r>
              <a:rPr lang="en-US" altLang="zh-CN" sz="1600" dirty="0" err="1"/>
              <a:t>Goph</a:t>
            </a:r>
            <a:r>
              <a:rPr lang="en-US" altLang="zh-CN" sz="1600" dirty="0"/>
              <a:t>, and another image of bird painted in style of watercolor</a:t>
            </a:r>
          </a:p>
          <a:p>
            <a:r>
              <a:rPr lang="en-US" altLang="zh-CN" sz="1600" dirty="0"/>
              <a:t>-</a:t>
            </a:r>
            <a:r>
              <a:rPr lang="en-US" altLang="zh-CN" sz="1600" dirty="0" err="1"/>
              <a:t>completely_different</a:t>
            </a:r>
            <a:r>
              <a:rPr lang="en-US" altLang="zh-CN" sz="1600" dirty="0"/>
              <a:t>: 0.15</a:t>
            </a:r>
          </a:p>
          <a:p>
            <a:r>
              <a:rPr lang="en-US" altLang="zh-CN" sz="1600" dirty="0"/>
              <a:t>    ex. one image of bird, painted in style of Van </a:t>
            </a:r>
            <a:r>
              <a:rPr lang="en-US" altLang="zh-CN" sz="1600" dirty="0" err="1"/>
              <a:t>Goph</a:t>
            </a:r>
            <a:r>
              <a:rPr lang="en-US" altLang="zh-CN" sz="1600" dirty="0"/>
              <a:t>, and another image of car painted in style of watercolor</a:t>
            </a:r>
          </a:p>
          <a:p>
            <a:r>
              <a:rPr lang="en-US" altLang="zh-CN" dirty="0"/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29130-2DDC-EDD3-D809-300D338067E0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6C1FF06-2888-62FA-7E7D-929BA076C5CC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8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182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71324-3631-C0F0-ED5A-31EC1E45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8ACFDD-563B-DED4-A0A7-265A9539126E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9BB57D70-9CD4-5844-C7C7-CD8D2598DF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1EEDD5A8-922F-F3BB-96B7-9F4BF933FF91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8BB400F-6752-908C-4F79-8023C5256576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1C9C0331-8110-6CD0-1A4A-F1B6D94E72CC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8A344F22-CD8F-DE25-AB44-FA5272A89028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185ABFA-135F-D46C-1C39-E2ABA20E2579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F6FE72-813F-B2FD-1495-0BFCAD4B8A26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PART2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25BA0C-8463-6F8C-621E-807A4DF24F8E}"/>
              </a:ext>
            </a:extLst>
          </p:cNvPr>
          <p:cNvSpPr txBox="1"/>
          <p:nvPr/>
        </p:nvSpPr>
        <p:spPr>
          <a:xfrm>
            <a:off x="426716" y="2048730"/>
            <a:ext cx="2970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1.Develop model pipelines.</a:t>
            </a:r>
            <a:endParaRPr lang="zh-CN" altLang="en-US" dirty="0"/>
          </a:p>
        </p:txBody>
      </p:sp>
      <p:pic>
        <p:nvPicPr>
          <p:cNvPr id="4" name="图片 3" descr="图表, 雷达图&#10;&#10;AI 生成的内容可能不正确。">
            <a:extLst>
              <a:ext uri="{FF2B5EF4-FFF2-40B4-BE49-F238E27FC236}">
                <a16:creationId xmlns:a16="http://schemas.microsoft.com/office/drawing/2014/main" id="{EF1EF499-8491-FE0E-1482-D6BE2EB29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3746" y="1467359"/>
            <a:ext cx="5033465" cy="5313588"/>
          </a:xfrm>
          <a:prstGeom prst="rect">
            <a:avLst/>
          </a:prstGeom>
        </p:spPr>
      </p:pic>
      <p:pic>
        <p:nvPicPr>
          <p:cNvPr id="10" name="图片 9" descr="图示&#10;&#10;AI 生成的内容可能不正确。">
            <a:extLst>
              <a:ext uri="{FF2B5EF4-FFF2-40B4-BE49-F238E27FC236}">
                <a16:creationId xmlns:a16="http://schemas.microsoft.com/office/drawing/2014/main" id="{1486CF9C-37B5-C039-7C7C-6E0C13A1CE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8247" y="1506590"/>
            <a:ext cx="3316125" cy="527435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A3D8EC7-B0AE-FCAD-DCE1-AF430BAB4BB2}"/>
              </a:ext>
            </a:extLst>
          </p:cNvPr>
          <p:cNvSpPr txBox="1"/>
          <p:nvPr/>
        </p:nvSpPr>
        <p:spPr>
          <a:xfrm>
            <a:off x="4309268" y="1202223"/>
            <a:ext cx="4018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1.Based on Graph Neural Network</a:t>
            </a:r>
            <a:endParaRPr lang="zh-CN" altLang="en-US" sz="1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22D931-68B5-1455-C799-0AFD353015A3}"/>
              </a:ext>
            </a:extLst>
          </p:cNvPr>
          <p:cNvSpPr txBox="1"/>
          <p:nvPr/>
        </p:nvSpPr>
        <p:spPr>
          <a:xfrm>
            <a:off x="8576397" y="1202223"/>
            <a:ext cx="40189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2.Based on Neural Network</a:t>
            </a:r>
            <a:endParaRPr lang="zh-CN" altLang="en-US" sz="16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78CC8BC-8D1A-76C4-9D8A-5638609ABE23}"/>
              </a:ext>
            </a:extLst>
          </p:cNvPr>
          <p:cNvSpPr/>
          <p:nvPr/>
        </p:nvSpPr>
        <p:spPr>
          <a:xfrm>
            <a:off x="4799856" y="2092125"/>
            <a:ext cx="25202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A368283-ED19-5804-1145-EBA493CAD95F}"/>
              </a:ext>
            </a:extLst>
          </p:cNvPr>
          <p:cNvSpPr/>
          <p:nvPr/>
        </p:nvSpPr>
        <p:spPr>
          <a:xfrm>
            <a:off x="8602256" y="2092125"/>
            <a:ext cx="252028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22EE13F-F2DB-7249-93A2-6645A87ED2AB}"/>
              </a:ext>
            </a:extLst>
          </p:cNvPr>
          <p:cNvSpPr txBox="1"/>
          <p:nvPr/>
        </p:nvSpPr>
        <p:spPr>
          <a:xfrm>
            <a:off x="7416410" y="2079644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(1)Feature extractions</a:t>
            </a:r>
            <a:endParaRPr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3332422-425B-B6BA-21B8-7360AC046FD2}"/>
              </a:ext>
            </a:extLst>
          </p:cNvPr>
          <p:cNvSpPr txBox="1"/>
          <p:nvPr/>
        </p:nvSpPr>
        <p:spPr>
          <a:xfrm>
            <a:off x="7385492" y="3378422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(2)</a:t>
            </a:r>
            <a:r>
              <a:rPr lang="en-US" altLang="zh-CN" sz="1400" dirty="0" err="1"/>
              <a:t>Anaylize</a:t>
            </a:r>
            <a:r>
              <a:rPr lang="en-US" altLang="zh-CN" sz="1400" dirty="0"/>
              <a:t> features</a:t>
            </a:r>
            <a:endParaRPr lang="zh-CN" altLang="en-US" sz="14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F7F248B-FA5F-11F4-07F8-AB764EB95158}"/>
              </a:ext>
            </a:extLst>
          </p:cNvPr>
          <p:cNvSpPr txBox="1"/>
          <p:nvPr/>
        </p:nvSpPr>
        <p:spPr>
          <a:xfrm>
            <a:off x="7377243" y="4879099"/>
            <a:ext cx="1455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(3)Comparing feature maps from two images</a:t>
            </a:r>
            <a:endParaRPr lang="zh-CN" altLang="en-US" sz="1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6A40E5-48C6-BB38-C4DF-625D41E8F5D5}"/>
              </a:ext>
            </a:extLst>
          </p:cNvPr>
          <p:cNvSpPr/>
          <p:nvPr/>
        </p:nvSpPr>
        <p:spPr>
          <a:xfrm>
            <a:off x="4655840" y="4869160"/>
            <a:ext cx="2721403" cy="13681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F2144BA-6202-CDA1-612D-667DCAA5D159}"/>
              </a:ext>
            </a:extLst>
          </p:cNvPr>
          <p:cNvSpPr/>
          <p:nvPr/>
        </p:nvSpPr>
        <p:spPr>
          <a:xfrm>
            <a:off x="8551721" y="4679268"/>
            <a:ext cx="2721403" cy="15580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5440BF1-4FBF-FBDE-0B61-796CF275361C}"/>
              </a:ext>
            </a:extLst>
          </p:cNvPr>
          <p:cNvSpPr/>
          <p:nvPr/>
        </p:nvSpPr>
        <p:spPr>
          <a:xfrm>
            <a:off x="4583832" y="2924944"/>
            <a:ext cx="2793411" cy="1754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442036-EE4C-BE45-3D01-DF4E24025581}"/>
              </a:ext>
            </a:extLst>
          </p:cNvPr>
          <p:cNvSpPr/>
          <p:nvPr/>
        </p:nvSpPr>
        <p:spPr>
          <a:xfrm>
            <a:off x="8465690" y="2990221"/>
            <a:ext cx="2793411" cy="15992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C6F3919-7496-8338-31CF-526C89C0C9FF}"/>
              </a:ext>
            </a:extLst>
          </p:cNvPr>
          <p:cNvSpPr txBox="1"/>
          <p:nvPr/>
        </p:nvSpPr>
        <p:spPr>
          <a:xfrm>
            <a:off x="437752" y="2762180"/>
            <a:ext cx="22018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(1)Feature extractions</a:t>
            </a:r>
            <a:endParaRPr lang="zh-CN" altLang="en-US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5DAE3F4-0B37-77EF-206E-105415C38BD8}"/>
              </a:ext>
            </a:extLst>
          </p:cNvPr>
          <p:cNvSpPr txBox="1"/>
          <p:nvPr/>
        </p:nvSpPr>
        <p:spPr>
          <a:xfrm>
            <a:off x="422439" y="3424026"/>
            <a:ext cx="2201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(2)Anaylze features</a:t>
            </a:r>
            <a:endParaRPr lang="zh-CN" altLang="en-US" sz="14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411A6F4-B400-5D9B-FB56-416825D5EA4B}"/>
              </a:ext>
            </a:extLst>
          </p:cNvPr>
          <p:cNvSpPr txBox="1"/>
          <p:nvPr/>
        </p:nvSpPr>
        <p:spPr>
          <a:xfrm>
            <a:off x="430035" y="4136038"/>
            <a:ext cx="307367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(3)Comparing feature maps from two images</a:t>
            </a:r>
          </a:p>
          <a:p>
            <a:endParaRPr lang="en-US" altLang="zh-CN" sz="1400" dirty="0"/>
          </a:p>
          <a:p>
            <a:r>
              <a:rPr lang="en-US" altLang="zh-CN" sz="1400" dirty="0"/>
              <a:t>(4)Choose Mean Square Error as loss function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ECDFAF-F099-D975-931F-B7CCE3E160B5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89C88AE-4AA8-4C41-BD64-FC701D968629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470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86966-DFBB-8084-5B71-E2DAE444B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472F329-6193-061A-B93F-0AAE4C0BFF59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FB5E2122-3E08-8CC1-F7A8-BB07B52ADE9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88A9E6A7-3A59-2888-23BA-860B000E21F0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C326991B-06A8-42B6-0398-884EF0CD7787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1F57E28-3D69-129B-300D-4C750AD348A9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2BD332FF-8BD7-9341-1C62-301F4682D951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B53C560-A855-5ADF-06EE-A88967026B87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B0A900C-732C-8FC9-0A6A-1A9AB115385D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PART3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9918C91-90E4-0E10-497F-1D06ED0AA062}"/>
              </a:ext>
            </a:extLst>
          </p:cNvPr>
          <p:cNvSpPr txBox="1"/>
          <p:nvPr/>
        </p:nvSpPr>
        <p:spPr>
          <a:xfrm>
            <a:off x="426716" y="2048730"/>
            <a:ext cx="329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1.Make sure the file structure (shown on the right).</a:t>
            </a:r>
            <a:endParaRPr lang="zh-CN" altLang="en-US" dirty="0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88464B8A-76A5-98CB-9922-34DF7AFEC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325" y="797668"/>
            <a:ext cx="5586303" cy="298390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0CB334E-5CFB-84D1-864F-3F6098674301}"/>
              </a:ext>
            </a:extLst>
          </p:cNvPr>
          <p:cNvSpPr txBox="1"/>
          <p:nvPr/>
        </p:nvSpPr>
        <p:spPr>
          <a:xfrm>
            <a:off x="426716" y="3720681"/>
            <a:ext cx="3293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2.Make sure the data format in the similarity.txt (shown on the right).</a:t>
            </a:r>
            <a:endParaRPr lang="zh-CN" altLang="en-US" dirty="0"/>
          </a:p>
        </p:txBody>
      </p:sp>
      <p:pic>
        <p:nvPicPr>
          <p:cNvPr id="13" name="图片 12" descr="电脑键盘&#10;&#10;AI 生成的内容可能不正确。">
            <a:extLst>
              <a:ext uri="{FF2B5EF4-FFF2-40B4-BE49-F238E27FC236}">
                <a16:creationId xmlns:a16="http://schemas.microsoft.com/office/drawing/2014/main" id="{179F040D-9FA4-10E6-D7FD-483A28E2E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5476" y="4110363"/>
            <a:ext cx="5319116" cy="134076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7E3F21D-B5DF-0B53-5836-65410CEE5A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52" y="4878184"/>
            <a:ext cx="5320143" cy="46166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77B62EF-AED7-4F4B-301B-0B3EE95DE52C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591569-6A85-F1A5-273F-85B6DCFD179E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10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1691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D65C-C53B-C6A0-1A04-E3BE1342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88B4BB9-8EA0-33E2-0832-6FBA5D58A075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8E58FBF9-936E-E4AE-A6AA-EEC4E97908D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38CBD38E-4D61-5C2D-C101-5A53E474D5A3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67BEC91-2273-EF2B-8637-A491CC2948F4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F900CF4F-27B6-639E-E032-FCC350A86808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FB36A72-D4EC-D834-655B-3E4099BA259F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F27D36D-DDC9-FFA6-BEEE-51537E992B0F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112653-2ED6-B389-F969-EFF848F07E0D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PART4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75245C-4C37-A9AD-FAF7-4DDEBF233621}"/>
              </a:ext>
            </a:extLst>
          </p:cNvPr>
          <p:cNvSpPr txBox="1"/>
          <p:nvPr/>
        </p:nvSpPr>
        <p:spPr>
          <a:xfrm>
            <a:off x="426716" y="2048730"/>
            <a:ext cx="3293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1.Compare the training loss and the validation loss of two methods.(based on Graph Neural Network and based on Neural Network)</a:t>
            </a:r>
            <a:endParaRPr lang="zh-CN" altLang="en-US" dirty="0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ED2EC98E-F732-D1A3-52EF-E1BCA3681C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4152" y="3542645"/>
            <a:ext cx="3547399" cy="2912655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971F5B91-BD9C-AC22-5618-5E586531F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716" y="595832"/>
            <a:ext cx="3547399" cy="294336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D3D611C-327D-5AAC-ED58-E7FC08979547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46E5FE2-73B4-31EE-B0B6-4DFBDA548087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11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444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CE8C0-FBF5-7FA9-9D2E-D575E890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D649154-77FD-1492-2EDA-2661B2353D6F}"/>
              </a:ext>
            </a:extLst>
          </p:cNvPr>
          <p:cNvSpPr/>
          <p:nvPr/>
        </p:nvSpPr>
        <p:spPr>
          <a:xfrm>
            <a:off x="0" y="5517232"/>
            <a:ext cx="12192000" cy="1340768"/>
          </a:xfrm>
          <a:prstGeom prst="rect">
            <a:avLst/>
          </a:prstGeom>
          <a:gradFill>
            <a:gsLst>
              <a:gs pos="100000">
                <a:srgbClr val="034A92"/>
              </a:gs>
              <a:gs pos="0">
                <a:srgbClr val="0E419C">
                  <a:alpha val="21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5AEF5BD0-7D1A-C475-7F02-4565B94C95E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162" t="84919" r="3222" b="11405"/>
          <a:stretch>
            <a:fillRect/>
          </a:stretch>
        </p:blipFill>
        <p:spPr>
          <a:xfrm>
            <a:off x="339890" y="5994721"/>
            <a:ext cx="4725655" cy="173864"/>
          </a:xfrm>
          <a:custGeom>
            <a:avLst/>
            <a:gdLst>
              <a:gd name="connsiteX0" fmla="*/ 0 w 5303518"/>
              <a:gd name="connsiteY0" fmla="*/ 0 h 5222014"/>
              <a:gd name="connsiteX1" fmla="*/ 5303518 w 5303518"/>
              <a:gd name="connsiteY1" fmla="*/ 0 h 5222014"/>
              <a:gd name="connsiteX2" fmla="*/ 5303518 w 5303518"/>
              <a:gd name="connsiteY2" fmla="*/ 5222014 h 5222014"/>
              <a:gd name="connsiteX3" fmla="*/ 0 w 5303518"/>
              <a:gd name="connsiteY3" fmla="*/ 5222014 h 5222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03518" h="5222014">
                <a:moveTo>
                  <a:pt x="0" y="0"/>
                </a:moveTo>
                <a:lnTo>
                  <a:pt x="5303518" y="0"/>
                </a:lnTo>
                <a:lnTo>
                  <a:pt x="5303518" y="5222014"/>
                </a:lnTo>
                <a:lnTo>
                  <a:pt x="0" y="5222014"/>
                </a:lnTo>
                <a:close/>
              </a:path>
            </a:pathLst>
          </a:custGeom>
          <a:effectLst>
            <a:outerShdw blurRad="241300" dist="114300" dir="2700000" algn="tl" rotWithShape="0">
              <a:schemeClr val="accent1">
                <a:lumMod val="75000"/>
                <a:alpha val="40000"/>
              </a:schemeClr>
            </a:outerShdw>
          </a:effectLst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6A60908B-EF52-292D-3E45-D1BDB8EABE85}"/>
              </a:ext>
            </a:extLst>
          </p:cNvPr>
          <p:cNvGrpSpPr/>
          <p:nvPr/>
        </p:nvGrpSpPr>
        <p:grpSpPr>
          <a:xfrm>
            <a:off x="309511" y="770246"/>
            <a:ext cx="315852" cy="461665"/>
            <a:chOff x="934400" y="936575"/>
            <a:chExt cx="31585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EDF93A25-671C-C831-D20F-6EB3BA98EA70}"/>
                </a:ext>
              </a:extLst>
            </p:cNvPr>
            <p:cNvSpPr txBox="1"/>
            <p:nvPr/>
          </p:nvSpPr>
          <p:spPr>
            <a:xfrm>
              <a:off x="1065521" y="936575"/>
              <a:ext cx="1847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2400" dirty="0">
                <a:solidFill>
                  <a:srgbClr val="0E419C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2B902AD-16FB-F92A-DAE7-465A6A67A15B}"/>
                </a:ext>
              </a:extLst>
            </p:cNvPr>
            <p:cNvSpPr/>
            <p:nvPr/>
          </p:nvSpPr>
          <p:spPr>
            <a:xfrm>
              <a:off x="934400" y="963997"/>
              <a:ext cx="45719" cy="371466"/>
            </a:xfrm>
            <a:prstGeom prst="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EE8F119-CBD4-0A6B-11F0-DC3409C5DA52}"/>
              </a:ext>
            </a:extLst>
          </p:cNvPr>
          <p:cNvSpPr/>
          <p:nvPr/>
        </p:nvSpPr>
        <p:spPr>
          <a:xfrm>
            <a:off x="0" y="1"/>
            <a:ext cx="12192000" cy="650874"/>
          </a:xfrm>
          <a:prstGeom prst="rect">
            <a:avLst/>
          </a:prstGeom>
          <a:solidFill>
            <a:srgbClr val="034A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EBC3F86-2A4A-FA55-7377-42DFD65D5D10}"/>
              </a:ext>
            </a:extLst>
          </p:cNvPr>
          <p:cNvSpPr txBox="1"/>
          <p:nvPr/>
        </p:nvSpPr>
        <p:spPr>
          <a:xfrm>
            <a:off x="468564" y="770246"/>
            <a:ext cx="6098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Semantic feature map</a:t>
            </a:r>
            <a:endParaRPr lang="zh-CN" altLang="en-US" sz="24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DAA9D7-8D9F-8C56-BBAA-0C67E73DD5D2}"/>
              </a:ext>
            </a:extLst>
          </p:cNvPr>
          <p:cNvSpPr txBox="1"/>
          <p:nvPr/>
        </p:nvSpPr>
        <p:spPr>
          <a:xfrm>
            <a:off x="437753" y="1412776"/>
            <a:ext cx="297071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zh-CN" dirty="0"/>
              <a:t>PART4</a:t>
            </a:r>
          </a:p>
          <a:p>
            <a:pPr>
              <a:spcAft>
                <a:spcPts val="600"/>
              </a:spcAft>
            </a:pP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ABF5A1-CE25-9104-3A4B-14031920D00E}"/>
              </a:ext>
            </a:extLst>
          </p:cNvPr>
          <p:cNvSpPr txBox="1"/>
          <p:nvPr/>
        </p:nvSpPr>
        <p:spPr>
          <a:xfrm>
            <a:off x="426716" y="2048730"/>
            <a:ext cx="32930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1.Test the GNN-based method by Van </a:t>
            </a:r>
            <a:r>
              <a:rPr lang="en-US" altLang="zh-CN" dirty="0" err="1"/>
              <a:t>Goph’s</a:t>
            </a:r>
            <a:r>
              <a:rPr lang="en-US" altLang="zh-CN" dirty="0"/>
              <a:t> masterpiece and AI generated image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196187-2807-C0B6-BE06-118AB5779F67}"/>
              </a:ext>
            </a:extLst>
          </p:cNvPr>
          <p:cNvSpPr txBox="1"/>
          <p:nvPr/>
        </p:nvSpPr>
        <p:spPr>
          <a:xfrm>
            <a:off x="4439816" y="1709400"/>
            <a:ext cx="2736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Van </a:t>
            </a:r>
            <a:r>
              <a:rPr lang="en-US" altLang="zh-CN" dirty="0" err="1"/>
              <a:t>Goph’s</a:t>
            </a:r>
            <a:r>
              <a:rPr lang="en-US" altLang="zh-CN" dirty="0"/>
              <a:t> masterpiece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4070AFE-3445-6652-4341-A180DE6FE4E1}"/>
              </a:ext>
            </a:extLst>
          </p:cNvPr>
          <p:cNvSpPr txBox="1"/>
          <p:nvPr/>
        </p:nvSpPr>
        <p:spPr>
          <a:xfrm>
            <a:off x="9048328" y="1709400"/>
            <a:ext cx="2232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AI generated image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80225A-699F-7C7D-7FD5-B8CE17B02AA2}"/>
              </a:ext>
            </a:extLst>
          </p:cNvPr>
          <p:cNvSpPr txBox="1"/>
          <p:nvPr/>
        </p:nvSpPr>
        <p:spPr>
          <a:xfrm>
            <a:off x="463898" y="3356992"/>
            <a:ext cx="3293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final score: 0.8814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same_style_diff_content</a:t>
            </a:r>
            <a:r>
              <a:rPr lang="en-US" altLang="zh-CN" dirty="0"/>
              <a:t>: 0.85)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A2D7D6E-4927-1638-A744-38B2020A9B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2259899"/>
            <a:ext cx="3622881" cy="290585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8575026-256A-425D-0DF2-20DBC8B783D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744" y="2197865"/>
            <a:ext cx="3698831" cy="296788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811B27C-0E01-2C19-A1F8-65E0A3303C9C}"/>
              </a:ext>
            </a:extLst>
          </p:cNvPr>
          <p:cNvSpPr txBox="1"/>
          <p:nvPr/>
        </p:nvSpPr>
        <p:spPr>
          <a:xfrm>
            <a:off x="10056440" y="1702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XuKaiyun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Bruce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6535DC-BC82-E8FA-B88F-8E50492E5A1B}"/>
              </a:ext>
            </a:extLst>
          </p:cNvPr>
          <p:cNvSpPr txBox="1"/>
          <p:nvPr/>
        </p:nvSpPr>
        <p:spPr>
          <a:xfrm>
            <a:off x="11280576" y="63031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12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191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DA2MGQ2YzdmNTU2MGM0ODg2OGJiZjFkMDk1MzQxM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0679;#400677;#400677;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sii2hdl">
      <a:majorFont>
        <a:latin typeface="Arial"/>
        <a:ea typeface="思源黑体 CN Regular"/>
        <a:cs typeface=""/>
      </a:majorFont>
      <a:minorFont>
        <a:latin typeface="Arial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6101</TotalTime>
  <Words>446</Words>
  <Application>Microsoft Office PowerPoint</Application>
  <PresentationFormat>宽屏</PresentationFormat>
  <Paragraphs>73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木卫林学术</dc:title>
  <dc:subject>木卫林</dc:subject>
  <dc:creator>滕 婷</dc:creator>
  <dc:description>木卫林学术</dc:description>
  <cp:lastModifiedBy>kaiyun xu</cp:lastModifiedBy>
  <cp:revision>73</cp:revision>
  <cp:lastPrinted>2025-11-16T14:31:36Z</cp:lastPrinted>
  <dcterms:created xsi:type="dcterms:W3CDTF">2022-05-21T02:01:00Z</dcterms:created>
  <dcterms:modified xsi:type="dcterms:W3CDTF">2025-12-19T12:59:01Z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41A0BBD9BBEA44F68C62694CEC13992C</vt:lpwstr>
  </property>
  <property fmtid="{D5CDD505-2E9C-101B-9397-08002B2CF9AE}" pid="3" name="KSOProductBuildVer">
    <vt:lpwstr>2052-11.1.0.11744</vt:lpwstr>
  </property>
</Properties>
</file>